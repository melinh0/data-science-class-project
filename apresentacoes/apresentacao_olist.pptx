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D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EC5E8"/>
                </a:solidFill>
                <a:latin typeface="Calibri"/>
              </a:rPr>
              <a:t>PROJETO DE CIÊNCIA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Quais fatores estão associados
à insatisfação dos clientes?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CDDCEA"/>
                </a:solidFill>
                <a:latin typeface="Calibri"/>
              </a:rPr>
              <a:t>Análise exploratória, testes estatísticos e modelo preditivo no e-commerce brasileiro (Olist)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760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EC5E8"/>
                </a:solidFill>
                <a:latin typeface="Calibri"/>
              </a:rPr>
              <a:t>Dataset: Kaggle — olistbr/brazilian-ecommerce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D66"/>
                </a:solidFill>
                <a:latin typeface="Calibri"/>
              </a:rPr>
              <a:t>Base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166AC"/>
                </a:solidFill>
                <a:latin typeface="Calibri"/>
              </a:rPr>
              <a:t>▪  </a:t>
            </a:r>
            <a:r>
              <a:rPr sz="1900" b="1">
                <a:solidFill>
                  <a:srgbClr val="143D66"/>
                </a:solidFill>
                <a:latin typeface="Calibri"/>
              </a:rPr>
              <a:t>Olist Brazilian E-commerce (Kaggle): </a:t>
            </a:r>
            <a:r>
              <a:rPr sz="1900">
                <a:solidFill>
                  <a:srgbClr val="444444"/>
                </a:solidFill>
                <a:latin typeface="Calibri"/>
              </a:rPr>
              <a:t>marketplace brasileiro com pedidos de 2017–2018.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166AC"/>
                </a:solidFill>
                <a:latin typeface="Calibri"/>
              </a:rPr>
              <a:t>▪  </a:t>
            </a:r>
            <a:r>
              <a:rPr sz="1900" b="1">
                <a:solidFill>
                  <a:srgbClr val="143D66"/>
                </a:solidFill>
                <a:latin typeface="Calibri"/>
              </a:rPr>
              <a:t>9 arquivos relacionados por order_id: </a:t>
            </a:r>
            <a:r>
              <a:rPr sz="1900">
                <a:solidFill>
                  <a:srgbClr val="444444"/>
                </a:solidFill>
                <a:latin typeface="Calibri"/>
              </a:rPr>
              <a:t>pedidos, clientes, itens, avaliações, pagamentos, produtos, vendedores, geolocalização e categorias.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166AC"/>
                </a:solidFill>
                <a:latin typeface="Calibri"/>
              </a:rPr>
              <a:t>▪  </a:t>
            </a:r>
            <a:r>
              <a:rPr sz="1900" b="1">
                <a:solidFill>
                  <a:srgbClr val="143D66"/>
                </a:solidFill>
                <a:latin typeface="Calibri"/>
              </a:rPr>
              <a:t>Avaliação do cliente: </a:t>
            </a:r>
            <a:r>
              <a:rPr sz="1900">
                <a:solidFill>
                  <a:srgbClr val="444444"/>
                </a:solidFill>
                <a:latin typeface="Calibri"/>
              </a:rPr>
              <a:t>nota de 1 a 5 por pedido (variável-alvo da análise).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1">
                <a:solidFill>
                  <a:srgbClr val="2166AC"/>
                </a:solidFill>
                <a:latin typeface="Calibri"/>
              </a:rPr>
              <a:t>▪  </a:t>
            </a:r>
            <a:r>
              <a:rPr sz="1900" b="1">
                <a:solidFill>
                  <a:srgbClr val="143D66"/>
                </a:solidFill>
                <a:latin typeface="Calibri"/>
              </a:rPr>
              <a:t>Recorte analítico: </a:t>
            </a:r>
            <a:r>
              <a:rPr sz="1900">
                <a:solidFill>
                  <a:srgbClr val="444444"/>
                </a:solidFill>
                <a:latin typeface="Calibri"/>
              </a:rPr>
              <a:t>95.824 pedidos entregues com avaliação — 1 linha = 1 pedido, com atraso, frete, categoria, UF e pagamento.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1463040"/>
            <a:ext cx="3108960" cy="1188720"/>
          </a:xfrm>
          <a:prstGeom prst="roundRect">
            <a:avLst/>
          </a:prstGeom>
          <a:solidFill>
            <a:srgbClr val="EFF4FA"/>
          </a:solidFill>
          <a:ln w="1587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166AC"/>
                </a:solidFill>
                <a:latin typeface="Calibri"/>
              </a:rPr>
              <a:t>9</a:t>
            </a:r>
          </a:p>
          <a:p>
            <a:pPr algn="ctr"/>
            <a:r>
              <a:rPr sz="1400">
                <a:solidFill>
                  <a:srgbClr val="444444"/>
                </a:solidFill>
                <a:latin typeface="Calibri"/>
              </a:rPr>
              <a:t>arquivos CSV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2926080"/>
            <a:ext cx="3108960" cy="1188720"/>
          </a:xfrm>
          <a:prstGeom prst="roundRect">
            <a:avLst/>
          </a:prstGeom>
          <a:solidFill>
            <a:srgbClr val="EFF4FA"/>
          </a:solidFill>
          <a:ln w="15875">
            <a:solidFill>
              <a:srgbClr val="2166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2166AC"/>
                </a:solidFill>
                <a:latin typeface="Calibri"/>
              </a:rPr>
              <a:t>95.824</a:t>
            </a:r>
          </a:p>
          <a:p>
            <a:pPr algn="ctr"/>
            <a:r>
              <a:rPr sz="1400">
                <a:solidFill>
                  <a:srgbClr val="444444"/>
                </a:solidFill>
                <a:latin typeface="Calibri"/>
              </a:rPr>
              <a:t>pedidos na análise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4389120"/>
            <a:ext cx="3108960" cy="1188720"/>
          </a:xfrm>
          <a:prstGeom prst="roundRect">
            <a:avLst/>
          </a:prstGeom>
          <a:solidFill>
            <a:srgbClr val="EFF4FA"/>
          </a:solidFill>
          <a:ln w="15875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2182B"/>
                </a:solidFill>
                <a:latin typeface="Calibri"/>
              </a:rPr>
              <a:t>12,8%</a:t>
            </a:r>
          </a:p>
          <a:p>
            <a:pPr algn="ctr"/>
            <a:r>
              <a:rPr sz="1400">
                <a:solidFill>
                  <a:srgbClr val="444444"/>
                </a:solidFill>
                <a:latin typeface="Calibri"/>
              </a:rPr>
              <a:t>com nota 1–2 (insatisfeitos)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Calibri"/>
              </a:rPr>
              <a:t>Olist Brazilian E-commerce · Kaggle · análise: 95.824 pedidos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43D66"/>
                </a:solidFill>
                <a:latin typeface="Calibri"/>
              </a:rPr>
              <a:t>Objetivo e pergunta de pesquisa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77777"/>
                </a:solidFill>
                <a:latin typeface="Calibri"/>
              </a:rPr>
              <a:t>OBJETIVO DO TRABALHO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444444"/>
                </a:solidFill>
                <a:latin typeface="Calibri"/>
              </a:rPr>
              <a:t>Identificar os fatores operacionais associados à insatisfação dos clientes (atraso, frete, categoria, região etc.) e traduzir as evidências em recomendações de melhoria operacional.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200400"/>
            <a:ext cx="10881360" cy="2194560"/>
          </a:xfrm>
          <a:prstGeom prst="roundRect">
            <a:avLst/>
          </a:prstGeom>
          <a:solidFill>
            <a:srgbClr val="EFF4FA"/>
          </a:solidFill>
          <a:ln w="25400">
            <a:solidFill>
              <a:srgbClr val="B218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B2182B"/>
                </a:solidFill>
                <a:latin typeface="Calibri"/>
              </a:rPr>
              <a:t>PERGUNTA QUE BUSCA RESPONDER
</a:t>
            </a:r>
          </a:p>
          <a:p>
            <a:pPr algn="ctr"/>
            <a:r>
              <a:rPr sz="2400" b="1">
                <a:solidFill>
                  <a:srgbClr val="143D66"/>
                </a:solidFill>
                <a:latin typeface="Calibri"/>
              </a:rPr>
              <a:t>“Quais fatores estão associados à insatisfação dos clientes e como essas evidências podem apoiar decisões de melhoria operacional?”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77777"/>
                </a:solidFill>
                <a:latin typeface="Calibri"/>
              </a:rPr>
              <a:t>Olist Brazilian E-commerce · Kaggle · análise: 95.824 pedidos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35508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7777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